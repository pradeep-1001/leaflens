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075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LeafLens AI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  <a:latin typeface="Calibri"/>
              </a:defRPr>
            </a:pPr>
            <a:r>
              <a:t>AI-Based Grapevine Disease Detection &amp; Smart Health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F3D0"/>
                </a:solidFill>
                <a:latin typeface="Calibri"/>
              </a:defRPr>
            </a:pPr>
            <a:r>
              <a:t>Niphad Grape Belt, Nashik | Maharashtra,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FAE5"/>
                </a:solidFill>
                <a:latin typeface="Calibri"/>
              </a:defRPr>
            </a:pPr>
            <a:r>
              <a:t>Jiya Gavali  |  Rachi Gedam  |  Gargi Shinde  |  Gauri Patil</a:t>
            </a:r>
            <a:br/>
            <a:r>
              <a:t>Department of Computer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760720"/>
            <a:ext cx="1280160" cy="3200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779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5760720"/>
            <a:ext cx="1645920" cy="3200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57790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MobileNetV3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5760720"/>
            <a:ext cx="1645920" cy="3200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57790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Raspberry 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5760720"/>
            <a:ext cx="1280160" cy="3200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5779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4E3B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400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30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05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Calibri"/>
              </a:defRPr>
            </a:pPr>
            <a:r>
              <a:t>Viticultural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9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Economic impact &amp; disease crisis in Nashik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64008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2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37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Calibri"/>
              </a:defRPr>
            </a:pPr>
            <a:r>
              <a:t>Failure of Current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91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Why outdoor vision models don't work for grapes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6400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94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6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Calibri"/>
              </a:defRPr>
            </a:pPr>
            <a:r>
              <a:t>The LeafLens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22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Chamber + AI + IoT multi-modal 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64008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5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00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54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End-to-end hardware-software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6400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57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31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Calibri"/>
              </a:defRPr>
            </a:pPr>
            <a:r>
              <a:t>AI &amp; 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85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MobileNetV3 + Grad-CAM heatmaps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37760"/>
            <a:ext cx="64008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88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6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Calibri"/>
              </a:defRPr>
            </a:pPr>
            <a:r>
              <a:t>Results &amp; Benchmarks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1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98.53% accuracy, per-class F1 scores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6400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20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69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Calibri"/>
              </a:defRPr>
            </a:pPr>
            <a:r>
              <a:t>Demo &amp; Future 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948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Live demonstration &amp; deployment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2/15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The Problem: Grapevine Disease Crisis in Nashik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Nashik produces over 70% of India's table grape exports; Niphad is the core production hub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Downy Mildew (Plasmopara viticola) destroys 40-80% of yield within 5-7 days of humid weather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Secondary pathogens: Powdery Mildew &amp; Bacterial Canker cause berry cracking and cane dieback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Farmers resort to 15-22 rounds of prophylactic chemical spraying per season (INR 35-50K/acre)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Export shipments rejected due to Maximum Residue Limit (MRL) violations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Early symptoms visually mimic nutrient deficiency -- naked-eye detection is unreliable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3/15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Why Existing Solutions Fail in Viticulture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Specular reflection: Grape's waxy cuticle creates harsh glare under outdoor sunlight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Generic apps misclassify sunlight glares as white powdery fungal mycelium (false positives)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Wind-induced flutter, canopy shadows, and shifting sun angles degrade accuracy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Pure CV ignores biology: fungus can't sporulate without specific temperature + humidity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PlantVillage-trained models lack regional pathotype and varietal calibration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Black-box probability scores fail to convince agronomists -- no spatial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4/15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The LeafLens Solution: Multi-Modal Viticulture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Portable, light-tight scanning chamber with laboratory-grade standardized illumination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CRI 95+ LED ring at 45 degrees eliminates specular reflection from waxy leaves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Integrated SHT31 (temp/humidity) + BH1750 (lux) sensors capture microclimate at scan time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MobileNetV3-Large: lightweight deep learning backbone (&lt;25 MB, &lt;120ms inference)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Grad-CAM heatmaps show exactly WHICH leaf regions triggered the AI diagnosis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Multi-modal fusion: visual probability x environmental risk multiplier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ICAR-NRCG aligned spray advisories with exact chemical formulations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5/15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554480" cy="13716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9440" y="1965960"/>
            <a:ext cx="145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37"/>
                </a:solidFill>
                <a:latin typeface="Calibri"/>
              </a:defRPr>
            </a:pPr>
            <a:r>
              <a:t>Grape Leaf</a:t>
            </a:r>
            <a:br/>
            <a:r>
              <a:t>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402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828800"/>
            <a:ext cx="1554480" cy="13716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2520" y="1965960"/>
            <a:ext cx="145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Scanning</a:t>
            </a:r>
            <a:br/>
            <a:r>
              <a:t>Chamber</a:t>
            </a:r>
            <a:br/>
            <a:r>
              <a:t>(Rachi)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2402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828800"/>
            <a:ext cx="1554480" cy="137160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5600" y="1965960"/>
            <a:ext cx="145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  <a:br/>
            <a:r>
              <a:t>Backend</a:t>
            </a:r>
            <a:br/>
            <a:r>
              <a:t>(Gargi)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402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828800"/>
            <a:ext cx="1554480" cy="13716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8680" y="1965960"/>
            <a:ext cx="145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Engine</a:t>
            </a:r>
            <a:br/>
            <a:r>
              <a:t>MobileNetV3</a:t>
            </a:r>
            <a:br/>
            <a:r>
              <a:t>(Jiya)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2402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828800"/>
            <a:ext cx="1554480" cy="1371600"/>
          </a:xfrm>
          <a:prstGeom prst="round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1760" y="1965960"/>
            <a:ext cx="145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Grad-CAM +</a:t>
            </a:r>
            <a:br/>
            <a:r>
              <a:t>Risk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402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1828800"/>
            <a:ext cx="1554480" cy="1371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14840" y="1965960"/>
            <a:ext cx="145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37"/>
                </a:solidFill>
                <a:latin typeface="Calibri"/>
              </a:defRPr>
            </a:pPr>
            <a:r>
              <a:t>Farmer</a:t>
            </a:r>
            <a:br/>
            <a:r>
              <a:t>Dashboard</a:t>
            </a:r>
            <a:br/>
            <a:r>
              <a:t>(Gauri)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Camera: Pi Camera Module 3 (Sony IMX708) | Sensors: SHT31 + BH1750 (I2C)</a:t>
            </a:r>
          </a:p>
          <a:p>
            <a:pPr>
              <a:spcAft>
                <a:spcPts val="8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API: POST /api/v1/scan | Database: SQLite persistent audit trail</a:t>
            </a:r>
          </a:p>
          <a:p>
            <a:pPr>
              <a:spcAft>
                <a:spcPts val="8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UI: Streamlit with live camera, Grad-CAM viewer, 30-day trends, English/Marathi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6/15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Hardware Innovation: Standardized Scanning Chamber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Enclosure: 20x20x25 cm matte-black acrylic, light-absorbing flocking interior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Camera: Raspberry Pi Camera Module 3 (12MP Sony IMX708, autofocus, HDR)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Lighting: 5500K CRI 95+ LED ring at 45-degree angle with diffuser -- zero glare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Temperature + Humidity: Sensirion SHT31-D (+/- 0.2C, +/- 1.5% RH) via I2C at 0x44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Light Sensor: BH1750 16-bit illuminance sensor (I2C at 0x23) verifies chamber seal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One-touch scan: GPIO 17 push-button with dual-color LED status (GPIO 27)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Total BOM cost: INR 8,250 to 10,250 (commercial off-the-shelf components)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7/15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AI Model: MobileNetV3-Large Transfer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Backbone: MobileNetV3-Large pre-trained on ImageNet-1K (hard-swish, SE attention)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4 Disease Classes: Downy Mildew | Powdery Mildew | Bacterial Leaf Spot | Healthy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Dataset: 2,726 authentic Niphad grape leaf images (70/15/15 train/val/test split)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Augmentations: Random flip (H:0.5, V:0.3), rotation (+/-25 deg), color jitter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Optimizer: AdamW (lr=0.0003, weight_decay=1e-4) with CosineAnnealing scheduler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Training: 15 epochs --&gt; Best validation accuracy: 98.53% at epoch 3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Model size: &lt;25 MB | Inference: &lt;120ms on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8/15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Explainability: Grad-CAM Visual Attention Heatmaps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Problem: Farmers won't trust a black-box probability number without visual proof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Grad-CAM targets final conv layer of MobileNetV3 feature extractor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Computes gradient of predicted class score w.r.t. feature activation maps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ReLU-filtered weighted sum produces coarse attention heatmap (Jet colormap overlay)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Downy Mildew: attention focuses on angular chlorotic oil spots &amp; veinal necrosis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Powdery Mildew: highlights white powdery mycelial patches across leaf lamina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HSV color thresholding quantifies exact % of necrotic tissue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9/15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Multi-Modal Fusion: Microclimate Risk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Vapor Pressure Deficit (VPD): VP_sat = 0.61078 * exp(17.27*T / (T+237.3))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VPD = VP_sat * (1 - RH/100) | VPD &lt; 0.50 kPa = ideal for fungal sporulation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Downy Mildew risk: 18-26C + RH&gt;80% + leaf wetness = CRITICAL ALERT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Powdery Mildew risk: 20-32C + RH 45-70% = ELEVATED ALERT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Multi-Modal Risk Multiplier fuses visual P_CV with environmental R_env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Health Score = 100 - (P_fused * 65 * S_k + NecrosisRatio * 0.35 + VPD_penalty)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Score 0-40: CRITICAL | 40-70: ELEVATED | 70-100: LOW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10/15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Backend: FastAPI REST API &amp; Recommendation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FastAPI async gateway with auto-generated Swagger docs at /docs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POST /api/v1/scan: image + sensor JSON --&gt; full diagnostic JSON (&lt;450ms)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GET /api/v1/history: chronological scan records for vineyard health tracking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GET /api/v1/analytics: aggregate disease distribution &amp; health indices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SQLite (leaflens.db): persistent audit trail with 16-column scan records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ICAR-NRCG spray prescriptions: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   - Downy: Metalaxyl 8% + Mancozeb 64% WP @ 2.5 g/L + canopy de-suckering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   - Powdery: Wettable Sulfur 80% WDG @ 2.0 g/L + canopy aeration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   - Bacterial: Copper Oxychloride 50% WP @ 2.5 g/L + Streptocycline 0.1 g/L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11/15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Farmer Dashboard: Interactive Bilingual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Built with Streamlit -- responsive for tablets, laptops, field kiosks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3 input modes: Live camera capture | Image upload | Pre-loaded Niphad test library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Side-by-side viewer: Original leaf photo + AI Grad-CAM lesion heatmap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Real-time Health Score gauge (0-100) with color-coded risk alerts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Microclimate dashboard: Temperature, Humidity, VPD, Leaf Wetness status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30-day vineyard epidemiological trend charts (Plotly)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Full Marathi localization toggle for Nashik farmers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12/15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4E3B"/>
                </a:solidFill>
                <a:latin typeface="Calibri"/>
              </a:defRPr>
            </a:pPr>
            <a:r>
              <a:t>Results: Training Metrics &amp; Benchmark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20520" cy="36576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2680" y="1389888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Epoch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1620520" cy="36576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8600" y="1389888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Train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1620520" cy="36576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4520" y="1389888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Train Acc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1620520" cy="36576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0440" y="1389888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71600"/>
            <a:ext cx="1620520" cy="36576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6360" y="1389888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 Acc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1783080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2680" y="18084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1783080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8600" y="18084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0.2873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783080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4520" y="18084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89.88%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783080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0440" y="18084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0.2996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783080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6360" y="18084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92.63%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2130552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2680" y="215595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2130552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8600" y="215595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0.0738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2130552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4520" y="215595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97.59%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130552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60440" y="215595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0.2915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2130552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06360" y="215595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93.86%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2478024"/>
            <a:ext cx="1620520" cy="3200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2680" y="250342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2478024"/>
            <a:ext cx="1620520" cy="3200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68600" y="250342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0.0384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0" y="2478024"/>
            <a:ext cx="1620520" cy="3200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14520" y="250342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98.53%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2478024"/>
            <a:ext cx="1620520" cy="3200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60440" y="250342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0.0648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0" y="2478024"/>
            <a:ext cx="1620520" cy="3200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06360" y="250342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Calibri"/>
              </a:defRPr>
            </a:pPr>
            <a:r>
              <a:t>98.53%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" y="2825496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2680" y="285089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0" y="2825496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68600" y="285089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0.0444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2825496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14520" y="285089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98.85%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0" y="2825496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60440" y="285089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0.0910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0960" y="2825496"/>
            <a:ext cx="1620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06360" y="285089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97.30%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97280" y="3172968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2680" y="319836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0" y="3172968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68600" y="319836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0.0118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89120" y="3172968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14520" y="319836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99.53%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35040" y="3172968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60440" y="319836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0.0839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80960" y="3172968"/>
            <a:ext cx="16205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06360" y="319836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Calibri"/>
              </a:defRPr>
            </a:pPr>
            <a:r>
              <a:t>98.03%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4E3B"/>
                </a:solidFill>
                <a:latin typeface="Calibri"/>
              </a:defRPr>
            </a:pPr>
            <a:r>
              <a:t>Best Validation Accuracy: 98.53%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Macro-Averaged F1-Score: 0.985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A37"/>
                </a:solidFill>
                <a:latin typeface="Calibri"/>
              </a:defRPr>
            </a:pPr>
            <a:r>
              <a:t>Downy Mildew:   P=98.8%  R=98.5%  F1=0.986</a:t>
            </a:r>
          </a:p>
          <a:p>
            <a:pPr>
              <a:spcAft>
                <a:spcPts val="600"/>
              </a:spcAft>
              <a:defRPr sz="1500">
                <a:solidFill>
                  <a:srgbClr val="1F2A37"/>
                </a:solidFill>
                <a:latin typeface="Calibri"/>
              </a:defRPr>
            </a:pPr>
            <a:r>
              <a:t>Powdery Mildew: P=98.1%  R=98.3%  F1=0.982</a:t>
            </a:r>
          </a:p>
          <a:p>
            <a:pPr>
              <a:spcAft>
                <a:spcPts val="600"/>
              </a:spcAft>
              <a:defRPr sz="1500">
                <a:solidFill>
                  <a:srgbClr val="1F2A37"/>
                </a:solidFill>
                <a:latin typeface="Calibri"/>
              </a:defRPr>
            </a:pPr>
            <a:r>
              <a:t>Bacterial Spot:   P=97.9%  R=98.2%  F1=0.980</a:t>
            </a:r>
          </a:p>
          <a:p>
            <a:pPr>
              <a:spcAft>
                <a:spcPts val="600"/>
              </a:spcAft>
              <a:defRPr sz="1500">
                <a:solidFill>
                  <a:srgbClr val="1F2A37"/>
                </a:solidFill>
                <a:latin typeface="Calibri"/>
              </a:defRPr>
            </a:pPr>
            <a:r>
              <a:t>Healthy Foliage:  P=99.2%  R=99.1%  F1=0.991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13/15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LeafLens AI Pro | Grapevine Disease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Demonstration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972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92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539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FAE5"/>
                </a:solidFill>
                <a:latin typeface="Calibri"/>
              </a:defRPr>
            </a:pPr>
            <a:r>
              <a:t>Open dashboard at http://localhost:8501 and verify backend at port 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972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16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1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FAE5"/>
                </a:solidFill>
                <a:latin typeface="Calibri"/>
              </a:defRPr>
            </a:pPr>
            <a:r>
              <a:t>Select Downy Mildew sample from Niphad test library (or use live camera)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972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93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093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FAE5"/>
                </a:solidFill>
                <a:latin typeface="Calibri"/>
              </a:defRPr>
            </a:pPr>
            <a:r>
              <a:t>Observe real-time classification: Downy Mildew with 100% 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10972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70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70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FAE5"/>
                </a:solidFill>
                <a:latin typeface="Calibri"/>
              </a:defRPr>
            </a:pPr>
            <a:r>
              <a:t>Review side-by-side Grad-CAM heatmap highlighting lesion regions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972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48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648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FAE5"/>
                </a:solidFill>
                <a:latin typeface="Calibri"/>
              </a:defRPr>
            </a:pPr>
            <a:r>
              <a:t>Adjust humidity slider &gt;80% + enable leaf dew --&gt; watch CRITICAL ALERT 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49240"/>
            <a:ext cx="109728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25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425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FAE5"/>
                </a:solidFill>
                <a:latin typeface="Calibri"/>
              </a:defRPr>
            </a:pPr>
            <a:r>
              <a:t>Toggle language to Marathi to see localized disease names &amp; spray advisories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4E3B"/>
                </a:solidFill>
                <a:latin typeface="Calibri"/>
              </a:defRPr>
            </a:pPr>
            <a:r>
              <a:t>Future Roadmap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ONNX INT8 quantization for offline inference on Raspberry Pi Zero 2W (&lt;INR 1,500)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Autonomous vineyard rovers &amp; multispectral drone payload for row-level scouting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Expand disease coverage: Anthracnose, Esca, Iron/Boron/Magnesium deficiencies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Field trials with Sahyadri Farms FPO (Mohadi, Nashik) &amp; ICAR-NRCG (Manjri, Pune)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Projected impact: 30-40% reduction in prophylactic fungicide spraying</a:t>
            </a:r>
          </a:p>
          <a:p>
            <a:pPr>
              <a:spcAft>
                <a:spcPts val="1000"/>
              </a:spcAft>
              <a:defRPr sz="1700">
                <a:solidFill>
                  <a:srgbClr val="1F2A37"/>
                </a:solidFill>
                <a:latin typeface="Calibri"/>
              </a:defRPr>
            </a:pPr>
            <a:r>
              <a:t>&gt;&gt; Protect export consignments from MRL rejections, preserve farmer income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7589520" cy="182880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475488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539496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Jiya Gavali  |  Rachi Gedam  |  Gargi Shinde  |  Gauri Patil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57607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F3D0"/>
                </a:solidFill>
                <a:latin typeface="Calibri"/>
              </a:defRPr>
            </a:pPr>
            <a:r>
              <a:t>We welcome your questions and feedback.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